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bb9fcd5fc72406a" /><Relationship Type="http://schemas.openxmlformats.org/officeDocument/2006/relationships/extended-properties" Target="/docProps/app.xml" Id="R251847b9d8224d3b" /><Relationship Type="http://schemas.openxmlformats.org/officeDocument/2006/relationships/officeDocument" Target="/ppt/presentation.xml" Id="R3b11f95acd21470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cd1e4226c654433"/>
  </p:sldMasterIdLst>
  <p:notesMasterIdLst>
    <p:notesMasterId xmlns:r="http://schemas.openxmlformats.org/officeDocument/2006/relationships" r:id="R3ef90075d4e2479c"/>
  </p:notesMasterIdLst>
  <p:sldIdLst>
    <p:sldId xmlns:r="http://schemas.openxmlformats.org/officeDocument/2006/relationships" id="256" r:id="Raf8b897aba7044ba"/>
    <p:sldId xmlns:r="http://schemas.openxmlformats.org/officeDocument/2006/relationships" id="257" r:id="Rce3d1ac3092b46df"/>
    <p:sldId xmlns:r="http://schemas.openxmlformats.org/officeDocument/2006/relationships" id="258" r:id="Rb081ab1a426e42bf"/>
    <p:sldId xmlns:r="http://schemas.openxmlformats.org/officeDocument/2006/relationships" id="259" r:id="R38586a5c14324929"/>
    <p:sldId xmlns:r="http://schemas.openxmlformats.org/officeDocument/2006/relationships" id="260" r:id="R3026a890138b4c8b"/>
    <p:sldId xmlns:r="http://schemas.openxmlformats.org/officeDocument/2006/relationships" id="261" r:id="Rf90be533ce7f4d43"/>
    <p:sldId xmlns:r="http://schemas.openxmlformats.org/officeDocument/2006/relationships" id="262" r:id="R7180feb0409b4ce5"/>
    <p:sldId xmlns:r="http://schemas.openxmlformats.org/officeDocument/2006/relationships" id="263" r:id="R95afca282f3a4a23"/>
    <p:sldId xmlns:r="http://schemas.openxmlformats.org/officeDocument/2006/relationships" id="264" r:id="Ra7432193b82f424a"/>
    <p:sldId xmlns:r="http://schemas.openxmlformats.org/officeDocument/2006/relationships" id="265" r:id="Ra67bea7d82c649fe"/>
    <p:sldId xmlns:r="http://schemas.openxmlformats.org/officeDocument/2006/relationships" id="266" r:id="Rf7f52fbe336e4b3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fcaa658ec7243f4" /><Relationship Type="http://schemas.openxmlformats.org/officeDocument/2006/relationships/slideMaster" Target="/ppt/slideMasters/slideMaster1.xml" Id="R0cd1e4226c654433" /><Relationship Type="http://schemas.openxmlformats.org/officeDocument/2006/relationships/notesMaster" Target="/ppt/notesMasters/notesMaster1.xml" Id="R3ef90075d4e2479c" /><Relationship Type="http://schemas.openxmlformats.org/officeDocument/2006/relationships/presProps" Target="/ppt/presProps.xml" Id="R4c1ca55e7d8842e5" /><Relationship Type="http://schemas.openxmlformats.org/officeDocument/2006/relationships/tableStyles" Target="/ppt/tableStyles.xml" Id="R62946b9250b9425b" /><Relationship Type="http://schemas.openxmlformats.org/officeDocument/2006/relationships/slide" Target="/ppt/slides/slide1.xml" Id="Raf8b897aba7044ba" /><Relationship Type="http://schemas.openxmlformats.org/officeDocument/2006/relationships/slide" Target="/ppt/slides/slide2.xml" Id="Rce3d1ac3092b46df" /><Relationship Type="http://schemas.openxmlformats.org/officeDocument/2006/relationships/slide" Target="/ppt/slides/slide3.xml" Id="Rb081ab1a426e42bf" /><Relationship Type="http://schemas.openxmlformats.org/officeDocument/2006/relationships/slide" Target="/ppt/slides/slide4.xml" Id="R38586a5c14324929" /><Relationship Type="http://schemas.openxmlformats.org/officeDocument/2006/relationships/slide" Target="/ppt/slides/slide5.xml" Id="R3026a890138b4c8b" /><Relationship Type="http://schemas.openxmlformats.org/officeDocument/2006/relationships/slide" Target="/ppt/slides/slide6.xml" Id="Rf90be533ce7f4d43" /><Relationship Type="http://schemas.openxmlformats.org/officeDocument/2006/relationships/slide" Target="/ppt/slides/slide7.xml" Id="R7180feb0409b4ce5" /><Relationship Type="http://schemas.openxmlformats.org/officeDocument/2006/relationships/slide" Target="/ppt/slides/slide8.xml" Id="R95afca282f3a4a23" /><Relationship Type="http://schemas.openxmlformats.org/officeDocument/2006/relationships/slide" Target="/ppt/slides/slide9.xml" Id="Ra7432193b82f424a" /><Relationship Type="http://schemas.openxmlformats.org/officeDocument/2006/relationships/slide" Target="/ppt/slides/slide10.xml" Id="Ra67bea7d82c649fe" /><Relationship Type="http://schemas.openxmlformats.org/officeDocument/2006/relationships/slide" Target="/ppt/slides/slide11.xml" Id="Rf7f52fbe336e4b3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e018a99eea54ff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691d3028af441af" /><Relationship Type="http://schemas.openxmlformats.org/officeDocument/2006/relationships/notesMaster" Target="/ppt/notesMasters/notesMaster1.xml" Id="R45bbaf32a700470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5a0c7f246774b1e" /><Relationship Type="http://schemas.openxmlformats.org/officeDocument/2006/relationships/notesMaster" Target="/ppt/notesMasters/notesMaster1.xml" Id="Rb85b99618eaa4ea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5ce46f45bf344f9" /><Relationship Type="http://schemas.openxmlformats.org/officeDocument/2006/relationships/notesMaster" Target="/ppt/notesMasters/notesMaster1.xml" Id="R722a563593784ae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1cf8819e4cb48b7" /><Relationship Type="http://schemas.openxmlformats.org/officeDocument/2006/relationships/notesMaster" Target="/ppt/notesMasters/notesMaster1.xml" Id="R9f6c8feeaaeb493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7253f0ffd7b4a84" /><Relationship Type="http://schemas.openxmlformats.org/officeDocument/2006/relationships/notesMaster" Target="/ppt/notesMasters/notesMaster1.xml" Id="Rdabb9182b1c0421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7d0d5d57bea4751" /><Relationship Type="http://schemas.openxmlformats.org/officeDocument/2006/relationships/notesMaster" Target="/ppt/notesMasters/notesMaster1.xml" Id="R52e5ee7341264ba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ccadec718a84c3e" /><Relationship Type="http://schemas.openxmlformats.org/officeDocument/2006/relationships/notesMaster" Target="/ppt/notesMasters/notesMaster1.xml" Id="R530361a6f84e4b6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06cdec126d24700" /><Relationship Type="http://schemas.openxmlformats.org/officeDocument/2006/relationships/notesMaster" Target="/ppt/notesMasters/notesMaster1.xml" Id="Re3acdac7764e463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2053654c29a4cb5" /><Relationship Type="http://schemas.openxmlformats.org/officeDocument/2006/relationships/notesMaster" Target="/ppt/notesMasters/notesMaster1.xml" Id="R0db88e54829347f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4a38ea38e004d30" /><Relationship Type="http://schemas.openxmlformats.org/officeDocument/2006/relationships/notesMaster" Target="/ppt/notesMasters/notesMaster1.xml" Id="R326194a809174ba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5742e59aa6e41a9" /><Relationship Type="http://schemas.openxmlformats.org/officeDocument/2006/relationships/notesMaster" Target="/ppt/notesMasters/notesMaster1.xml" Id="Rf7c831accc0d4c2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K105干净版式示意，仅含编辑标签，无示例论文或演示数据。普通任务通过同源组件创建已填充页面，不将这些标签带入成品。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K105干净版式示意，仅含编辑标签，无示例论文或演示数据。普通任务通过同源组件创建已填充页面，不将这些标签带入成品。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K105干净版式示意，仅含编辑标签，无示例论文或演示数据。普通任务通过同源组件创建已填充页面，不将这些标签带入成品。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K105干净版式示意，仅含编辑标签，无示例论文或演示数据。普通任务通过同源组件创建已填充页面，不将这些标签带入成品。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K105干净版式示意，仅含编辑标签，无示例论文或演示数据。普通任务通过同源组件创建已填充页面，不将这些标签带入成品。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K105干净版式示意，仅含编辑标签，无示例论文或演示数据。普通任务通过同源组件创建已填充页面，不将这些标签带入成品。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K105干净版式示意，仅含编辑标签，无示例论文或演示数据。普通任务通过同源组件创建已填充页面，不将这些标签带入成品。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K105干净版式示意，仅含编辑标签，无示例论文或演示数据。普通任务通过同源组件创建已填充页面，不将这些标签带入成品。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K105干净版式示意，仅含编辑标签，无示例论文或演示数据。普通任务通过同源组件创建已填充页面，不将这些标签带入成品。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K105干净版式示意，仅含编辑标签，无示例论文或演示数据。普通任务通过同源组件创建已填充页面，不将这些标签带入成品。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K105干净版式示意，仅含编辑标签，无示例论文或演示数据。普通任务通过同源组件创建已填充页面，不将这些标签带入成品。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87b0a3280d4d5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21f09198ff04469" /><Relationship Type="http://schemas.openxmlformats.org/officeDocument/2006/relationships/slideLayout" Target="/ppt/slideLayouts/slideLayout1.xml" Id="Re0f20ccbcb12440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0f20ccbcb12440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a7fc0231a24e32" /><Relationship Type="http://schemas.openxmlformats.org/officeDocument/2006/relationships/image" Target="/ppt/media/image.png" Id="R4085866cc6394932" /><Relationship Type="http://schemas.openxmlformats.org/officeDocument/2006/relationships/image" Target="/ppt/media/image.svg" Id="Rf7d09dcbd70848ea" /><Relationship Type="http://schemas.openxmlformats.org/officeDocument/2006/relationships/image" Target="/ppt/media/image2.png" Id="R5183929d14624f4e" /><Relationship Type="http://schemas.openxmlformats.org/officeDocument/2006/relationships/image" Target="/ppt/media/image2.svg" Id="Rae72bd700a90428a" /><Relationship Type="http://schemas.openxmlformats.org/officeDocument/2006/relationships/notesSlide" Target="/ppt/notesSlides/notesSlide1.xml" Id="R925a112796e2401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ff6d1c9a2e4540" /><Relationship Type="http://schemas.openxmlformats.org/officeDocument/2006/relationships/notesSlide" Target="/ppt/notesSlides/notesSlide2.xml" Id="Rd44fcd7a4415481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e37c00f44e4815" /><Relationship Type="http://schemas.openxmlformats.org/officeDocument/2006/relationships/notesSlide" Target="/ppt/notesSlides/notesSlide3.xml" Id="Rb58ba38c6954435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26326b08b44326" /><Relationship Type="http://schemas.openxmlformats.org/officeDocument/2006/relationships/notesSlide" Target="/ppt/notesSlides/notesSlide4.xml" Id="R114ec9fe82e044d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00dfca5e494803" /><Relationship Type="http://schemas.openxmlformats.org/officeDocument/2006/relationships/notesSlide" Target="/ppt/notesSlides/notesSlide5.xml" Id="R7636fa5302ab43a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cf26e94e404b7b" /><Relationship Type="http://schemas.openxmlformats.org/officeDocument/2006/relationships/notesSlide" Target="/ppt/notesSlides/notesSlide6.xml" Id="R5b0463376ff34a3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45f3d824854d78" /><Relationship Type="http://schemas.openxmlformats.org/officeDocument/2006/relationships/notesSlide" Target="/ppt/notesSlides/notesSlide7.xml" Id="Rbc718ca971d14c1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6062ff294e42a6" /><Relationship Type="http://schemas.openxmlformats.org/officeDocument/2006/relationships/notesSlide" Target="/ppt/notesSlides/notesSlide8.xml" Id="R089eb6f9cb88497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8ae398ab7b428c" /><Relationship Type="http://schemas.openxmlformats.org/officeDocument/2006/relationships/notesSlide" Target="/ppt/notesSlides/notesSlide9.xml" Id="R6d7736e888b54a8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0c596528a046eb" /><Relationship Type="http://schemas.openxmlformats.org/officeDocument/2006/relationships/notesSlide" Target="/ppt/notesSlides/notesSlide10.xml" Id="Re84c9d06f53748c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f3f20647224ad7" /><Relationship Type="http://schemas.openxmlformats.org/officeDocument/2006/relationships/image" Target="/ppt/media/image3.png" Id="Rde4072d19595413b" /><Relationship Type="http://schemas.openxmlformats.org/officeDocument/2006/relationships/image" Target="/ppt/media/image3.svg" Id="R05bfff9ca2d94e49" /><Relationship Type="http://schemas.openxmlformats.org/officeDocument/2006/relationships/image" Target="/ppt/media/image4.png" Id="R08e0a8f4b18e40aa" /><Relationship Type="http://schemas.openxmlformats.org/officeDocument/2006/relationships/image" Target="/ppt/media/image4.svg" Id="R2d24a3aee0ad44bd" /><Relationship Type="http://schemas.openxmlformats.org/officeDocument/2006/relationships/notesSlide" Target="/ppt/notesSlides/notesSlide11.xml" Id="R5f04fbd14e04437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6EE474-6119-4644-A02A-6FC0A9CA4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3742"/>
            <a:ext cx="12192000" cy="24934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AC57D9-0CDD-4C96-9F19-835BB762A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377" y="262633"/>
            <a:ext cx="596598" cy="6092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AD6338-657E-4610-B176-2FB15A09A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377" y="363645"/>
            <a:ext cx="432806" cy="6092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873B9E-DE0B-4234-B3EE-1C13B3190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377" y="464668"/>
            <a:ext cx="291503" cy="6092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9C1D3A-D0CB-48B1-84DC-C186A5D0E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9025" y="6537646"/>
            <a:ext cx="596598" cy="6092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EBC599-73A8-4946-9DA4-93D78B84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2817" y="6436624"/>
            <a:ext cx="432806" cy="6092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E41BCC-30A5-48EB-AD92-D77F3577B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4111" y="6335611"/>
            <a:ext cx="291503" cy="6092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19BEBB-FEF4-47D4-855C-29C165921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657475"/>
            <a:ext cx="876300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6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66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组会汇报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85866cc6394932">
            <a:extLst>
              <a:ext uri="{96DAC541-7B7A-43D3-8B79-37D633B846F1}">
                <asvg:svgBlip xmlns:asvg="http://schemas.microsoft.com/office/drawing/2016/SVG/main" r:embed="Rf7d09dcbd70848e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646836" y="5214471"/>
            <a:ext cx="261537" cy="229276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9769C2-3D61-453A-8BFA-D90ED20EA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181600"/>
            <a:ext cx="3381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00" b="0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rPr>
              <a:t>汇报人：汇报人姓名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83929d14624f4e">
            <a:extLst>
              <a:ext uri="{96DAC541-7B7A-43D3-8B79-37D633B846F1}">
                <asvg:svgBlip xmlns:asvg="http://schemas.microsoft.com/office/drawing/2016/SVG/main" r:embed="Rae72bd700a90428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44069" y="5210251"/>
            <a:ext cx="246917" cy="254879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0C0A31-FAA3-48D8-BD00-E044DF77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18160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00" b="0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rPr>
              <a:t>汇报日期：2026.09.07</a:t>
            </a:r>
          </a:p>
        </p:txBody>
      </p:sp>
    </p:spTree>
    <p:extLst>
      <p:ext uri="{BB962C8B-B14F-4D97-AF65-F5344CB8AC3E}">
        <p14:creationId xmlns:p14="http://schemas.microsoft.com/office/powerpoint/2010/main" val="19517879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44C56A-BCDA-4A54-AD57-EEB6A17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95275"/>
            <a:ext cx="228600" cy="209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86B023-EF2D-4602-9BC0-021C0F0F6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"/>
            <a:ext cx="10715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4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研究问题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F8F6DF-00AF-4274-99BA-E19418FA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79D4D7-8A46-49CA-BF60-AF25DD52E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82425" y="6438900"/>
            <a:ext cx="4095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DCFBE9-93D7-408B-BC4B-4CBB7F010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6505575"/>
            <a:ext cx="333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350" b="0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D7576E-E807-4499-9950-AB7610137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6825"/>
            <a:ext cx="10953750" cy="3567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2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研究背景与待解决的问题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439932-FF4F-428B-8E32-1CADE2B2D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4061"/>
            <a:ext cx="10953750" cy="3567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2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方法选择与比较条件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7A1118-2DF9-4576-B641-6D302180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1298"/>
            <a:ext cx="10953750" cy="3567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2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需要核验的关键证据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5AD089-84F3-4525-9FC1-9CDC22C3D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734050"/>
            <a:ext cx="111061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02CB5A-361A-47BC-B0D4-D4A1210A0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48350"/>
            <a:ext cx="107823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本页要点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BA769B-0C43-40EA-909F-B4997F426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42937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05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rPr>
              <a:t>来源标识与页码</a:t>
            </a:r>
          </a:p>
        </p:txBody>
      </p:sp>
    </p:spTree>
    <p:extLst>
      <p:ext uri="{BB962C8B-B14F-4D97-AF65-F5344CB8AC3E}">
        <p14:creationId xmlns:p14="http://schemas.microsoft.com/office/powerpoint/2010/main" val="5816028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BE5FB4-B0D0-4FBC-AB2B-EF94BDAE2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95275"/>
            <a:ext cx="228600" cy="209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68C9C1-22D7-4AC6-855A-6BA4A4EB1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"/>
            <a:ext cx="10715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4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单图与解释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ED0B84-B2D6-4ACD-89C5-4B252D8C8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0F9326-F4D2-40E2-ADF1-9636948E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82425" y="6438900"/>
            <a:ext cx="4095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18BBE7-B71C-4D42-A7BC-52CC5D7AE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6505575"/>
            <a:ext cx="333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350" b="0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38A1E6-2B9E-4849-819B-BAE3FD67C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76375"/>
            <a:ext cx="523875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9B6D0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FA7809-BF85-4D0F-AA8A-21A0F1F11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43238"/>
            <a:ext cx="485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rPr>
              <a:t>原文图表区域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AA1430-C68F-4E22-9D8D-9E7DD4346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1514475"/>
            <a:ext cx="5095875" cy="343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95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实验条件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FC3845-77CC-46EB-9CB0-A7620A27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229803"/>
            <a:ext cx="5095875" cy="343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95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图表支持的结论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1CC3DD-AF00-4303-B5E6-062E54A39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945130"/>
            <a:ext cx="5095875" cy="343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95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结论适用范围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F47356-C180-4F21-8341-4C79EF37E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734050"/>
            <a:ext cx="111061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3F29FF-4A4F-4D18-AF1F-83B041769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48350"/>
            <a:ext cx="107823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本页要点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585119-8B43-4CF7-A8C2-843085E86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42937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05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rPr>
              <a:t>来源标识与页码</a:t>
            </a:r>
          </a:p>
        </p:txBody>
      </p:sp>
    </p:spTree>
    <p:extLst>
      <p:ext uri="{BB962C8B-B14F-4D97-AF65-F5344CB8AC3E}">
        <p14:creationId xmlns:p14="http://schemas.microsoft.com/office/powerpoint/2010/main" val="113328413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256AE5-2E4A-4D14-877C-155CEA4C4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95275"/>
            <a:ext cx="228600" cy="209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EFB7E4-F4EA-4ED6-9087-82F36E225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"/>
            <a:ext cx="10715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4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并列图表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D0AA04-62AE-4E48-A84A-FCF69524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ADDC3D-C565-4538-87C1-93065BF2D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82425" y="6438900"/>
            <a:ext cx="4095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44F018-F648-44FB-B081-7F8E04A4C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6505575"/>
            <a:ext cx="333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350" b="0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6392A7-C160-4A87-8203-509DD2403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76375"/>
            <a:ext cx="523875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9B6D0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B84D6B-AA8E-4D2F-9D5A-25393F5E6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43238"/>
            <a:ext cx="485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rPr>
              <a:t>原文图表区域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0A6AA6-F2C3-4D4A-A161-CA9CD51F0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476375"/>
            <a:ext cx="523875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9B6D0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201F01-3572-40BB-A6EB-389CB8CC8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43238"/>
            <a:ext cx="485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rPr>
              <a:t>原文图表区域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1F77DB-1B90-47C4-BDEF-E04379DAB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81600"/>
            <a:ext cx="51435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图表说明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4C0794-ACDF-4640-8FE6-0884711D9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181600"/>
            <a:ext cx="51435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图表说明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56914-4B91-4967-9D90-4C981ECB4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734050"/>
            <a:ext cx="111061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83283A-9AFB-46AD-B12D-9B8C6A679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48350"/>
            <a:ext cx="107823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本页要点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32FBD0-88AC-435F-9955-43ED2DBBC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42937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05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rPr>
              <a:t>来源标识与页码</a:t>
            </a:r>
          </a:p>
        </p:txBody>
      </p:sp>
    </p:spTree>
    <p:extLst>
      <p:ext uri="{BB962C8B-B14F-4D97-AF65-F5344CB8AC3E}">
        <p14:creationId xmlns:p14="http://schemas.microsoft.com/office/powerpoint/2010/main" val="45565541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649CA5-3B18-49FC-817F-E2CAD11CB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95275"/>
            <a:ext cx="228600" cy="209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422AA-FF5E-4B79-A47D-58EEE4F33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"/>
            <a:ext cx="10715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4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实验条件对比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4B8715-CCF2-44A2-9DC7-8A3321250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DB291A-206C-4872-BE38-1C3DEA007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82425" y="6438900"/>
            <a:ext cx="4095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2B895-F3A7-4ED6-B1E0-2D3B6A4D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6505575"/>
            <a:ext cx="333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350" b="0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5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90550" y="1343025"/>
          <a:ext xmlns:a="http://schemas.openxmlformats.org/drawingml/2006/main" cx="10991850" cy="3790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19350"/>
                <a:gridCol w="4286250"/>
                <a:gridCol w="4286250"/>
              </a:tblGrid>
              <a:tr h="9477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Source Han Sans CN"/>
                          <a:ea typeface="Source Han Sans CN"/>
                          <a:cs typeface="Source Han Sans CN"/>
                        </a:rPr>
                        <a:t>比较维度</a:t>
                      </a:r>
                    </a:p>
                  </a:txBody>
                  <a:tcPr marL="114300" marR="114300" marT="95250" marB="76200" anchor="ctr">
                    <a:solidFill>
                      <a:srgbClr val="3249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Source Han Sans CN"/>
                          <a:ea typeface="Source Han Sans CN"/>
                          <a:cs typeface="Source Han Sans CN"/>
                        </a:rPr>
                        <a:t>条件一</a:t>
                      </a:r>
                    </a:p>
                  </a:txBody>
                  <a:tcPr marL="114300" marR="114300" marT="95250" marB="76200" anchor="ctr">
                    <a:solidFill>
                      <a:srgbClr val="3249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Source Han Sans CN"/>
                          <a:ea typeface="Source Han Sans CN"/>
                          <a:cs typeface="Source Han Sans CN"/>
                        </a:rPr>
                        <a:t>条件二</a:t>
                      </a:r>
                    </a:p>
                  </a:txBody>
                  <a:tcPr marL="114300" marR="114300" marT="95250" marB="76200" anchor="ctr">
                    <a:solidFill>
                      <a:srgbClr val="32497B"/>
                    </a:solidFill>
                  </a:tcPr>
                </a:tc>
              </a:tr>
              <a:tr h="94773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52B35"/>
                          </a:solidFill>
                          <a:latin typeface="Source Han Sans CN"/>
                          <a:ea typeface="Source Han Sans CN"/>
                          <a:cs typeface="Source Han Sans CN"/>
                        </a:rPr>
                        <a:t>实验设置</a:t>
                      </a:r>
                    </a:p>
                  </a:txBody>
                  <a:tcPr marL="114300" marR="11430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52B35"/>
                          </a:solidFill>
                          <a:latin typeface="Source Han Sans CN"/>
                          <a:ea typeface="Source Han Sans CN"/>
                          <a:cs typeface="Source Han Sans CN"/>
                        </a:rPr>
                        <a:t>据原文填写</a:t>
                      </a:r>
                    </a:p>
                  </a:txBody>
                  <a:tcPr marL="114300" marR="11430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52B35"/>
                          </a:solidFill>
                          <a:latin typeface="Source Han Sans CN"/>
                          <a:ea typeface="Source Han Sans CN"/>
                          <a:cs typeface="Source Han Sans CN"/>
                        </a:rPr>
                        <a:t>据原文填写</a:t>
                      </a:r>
                    </a:p>
                  </a:txBody>
                  <a:tcPr marL="114300" marR="114300" marT="95250" marB="76200" anchor="ctr">
                    <a:solidFill>
                      <a:srgbClr val="FFFFFF"/>
                    </a:solidFill>
                  </a:tcPr>
                </a:tc>
              </a:tr>
              <a:tr h="94773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52B35"/>
                          </a:solidFill>
                          <a:latin typeface="Source Han Sans CN"/>
                          <a:ea typeface="Source Han Sans CN"/>
                          <a:cs typeface="Source Han Sans CN"/>
                        </a:rPr>
                        <a:t>主要结果</a:t>
                      </a:r>
                    </a:p>
                  </a:txBody>
                  <a:tcPr marL="114300" marR="114300" marT="95250" marB="76200" anchor="ctr">
                    <a:solidFill>
                      <a:srgbClr val="E9ED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52B35"/>
                          </a:solidFill>
                          <a:latin typeface="Source Han Sans CN"/>
                          <a:ea typeface="Source Han Sans CN"/>
                          <a:cs typeface="Source Han Sans CN"/>
                        </a:rPr>
                        <a:t>据原文填写</a:t>
                      </a:r>
                    </a:p>
                  </a:txBody>
                  <a:tcPr marL="114300" marR="114300" marT="95250" marB="76200" anchor="ctr">
                    <a:solidFill>
                      <a:srgbClr val="E9ED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52B35"/>
                          </a:solidFill>
                          <a:latin typeface="Source Han Sans CN"/>
                          <a:ea typeface="Source Han Sans CN"/>
                          <a:cs typeface="Source Han Sans CN"/>
                        </a:rPr>
                        <a:t>据原文填写</a:t>
                      </a:r>
                    </a:p>
                  </a:txBody>
                  <a:tcPr marL="114300" marR="114300" marT="95250" marB="76200" anchor="ctr">
                    <a:solidFill>
                      <a:srgbClr val="E9EDF5"/>
                    </a:solidFill>
                  </a:tcPr>
                </a:tc>
              </a:tr>
              <a:tr h="94773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52B35"/>
                          </a:solidFill>
                          <a:latin typeface="Source Han Sans CN"/>
                          <a:ea typeface="Source Han Sans CN"/>
                          <a:cs typeface="Source Han Sans CN"/>
                        </a:rPr>
                        <a:t>适用边界</a:t>
                      </a:r>
                    </a:p>
                  </a:txBody>
                  <a:tcPr marL="114300" marR="11430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52B35"/>
                          </a:solidFill>
                          <a:latin typeface="Source Han Sans CN"/>
                          <a:ea typeface="Source Han Sans CN"/>
                          <a:cs typeface="Source Han Sans CN"/>
                        </a:rPr>
                        <a:t>据原文填写</a:t>
                      </a:r>
                    </a:p>
                  </a:txBody>
                  <a:tcPr marL="114300" marR="11430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52B35"/>
                          </a:solidFill>
                          <a:latin typeface="Source Han Sans CN"/>
                          <a:ea typeface="Source Han Sans CN"/>
                          <a:cs typeface="Source Han Sans CN"/>
                        </a:rPr>
                        <a:t>据原文填写</a:t>
                      </a:r>
                    </a:p>
                  </a:txBody>
                  <a:tcPr marL="114300" marR="114300" marT="95250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174629-0463-42EE-ACDF-E422EC31D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734050"/>
            <a:ext cx="111061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0B3555-4725-4ADA-B32D-8D2CA0078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48350"/>
            <a:ext cx="107823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本页要点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769EB3-8471-43C6-BF67-621397877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42937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05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rPr>
              <a:t>来源标识与页码</a:t>
            </a:r>
          </a:p>
        </p:txBody>
      </p:sp>
    </p:spTree>
    <p:extLst>
      <p:ext uri="{BB962C8B-B14F-4D97-AF65-F5344CB8AC3E}">
        <p14:creationId xmlns:p14="http://schemas.microsoft.com/office/powerpoint/2010/main" val="12993172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BCC0CF-BD7B-4A9E-8A4B-56C1E5C79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95275"/>
            <a:ext cx="228600" cy="209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2A4676-6CE3-4D99-972A-EA4CDB45C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"/>
            <a:ext cx="10715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4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关键方法步骤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B059E0-93C0-4EAD-805E-9DD6C8E0B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93B3E8-2A59-48C0-A388-E58020F8E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82425" y="6438900"/>
            <a:ext cx="4095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FCEE26-91EC-472D-A38F-FE63F37AD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6505575"/>
            <a:ext cx="333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350" b="0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5E2E33-B168-4DB4-AA66-8893EF2D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57275"/>
            <a:ext cx="109918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7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方法的输入与前提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3C6CC1-39D0-405F-BA61-3B8DF486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28825"/>
            <a:ext cx="2447925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5"/>
          </a:solidFill>
          <a:ln xmlns:a="http://schemas.openxmlformats.org/drawingml/2006/main" w="9525">
            <a:solidFill>
              <a:srgbClr val="A9B6D0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F7F74A-686E-46E1-8BBC-7B35FD8F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22574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输入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7D32AB-6A10-401D-8ED4-CD2C83B7B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990850"/>
            <a:ext cx="231457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72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信号与已知参数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CC109A-269B-458E-AE02-E1641A9E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028825"/>
            <a:ext cx="2447925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5"/>
          </a:solidFill>
          <a:ln xmlns:a="http://schemas.openxmlformats.org/drawingml/2006/main" w="9525">
            <a:solidFill>
              <a:srgbClr val="A9B6D0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945CE7-C577-4BAF-B2FA-CAFD679F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228850"/>
            <a:ext cx="22574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目标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474E67-1C5A-4399-B7D3-EC9DCDEC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990850"/>
            <a:ext cx="231457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72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目标函数与约束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CFB886-FDD1-4BC8-AEC8-3A6DCDA8D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28825"/>
            <a:ext cx="2447925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5"/>
          </a:solidFill>
          <a:ln xmlns:a="http://schemas.openxmlformats.org/drawingml/2006/main" w="9525">
            <a:solidFill>
              <a:srgbClr val="A9B6D0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C6E914-9430-4237-A464-876445F15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28850"/>
            <a:ext cx="22574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求解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A465B5-C7C1-46A9-BBB2-F0016ECB2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990850"/>
            <a:ext cx="231457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72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关键更新步骤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4B7327-EEA4-4791-A509-2563B48A8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028825"/>
            <a:ext cx="2447925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5"/>
          </a:solidFill>
          <a:ln xmlns:a="http://schemas.openxmlformats.org/drawingml/2006/main" w="9525">
            <a:solidFill>
              <a:srgbClr val="A9B6D0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294194-CCC7-4A2F-A8E1-9C59819AA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228850"/>
            <a:ext cx="22574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输出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2975EC-00B0-4ECE-BA44-A3234953A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90850"/>
            <a:ext cx="231457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72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结果与停止条件</a:t>
            </a:r>
          </a:p>
        </p:txBody>
      </p:sp>
      <p:cxnSp>
        <p:nvCxnSpPr>
          <p:cNvPr id="45" name=""/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038475" y="2376488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2497B"/>
            </a:solidFill>
            <a:tailEnd type="triangle" w="sm" len="sm"/>
          </a:ln>
        </p:spPr>
      </p:cxnSp>
      <p:cxnSp>
        <p:nvCxnSpPr>
          <p:cNvPr id="46" name=""/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886450" y="2376488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2497B"/>
            </a:solidFill>
            <a:tailEnd type="triangle" w="sm" len="sm"/>
          </a:ln>
        </p:spPr>
      </p:cxnSp>
      <p:cxnSp>
        <p:nvCxnSpPr>
          <p:cNvPr id="47" name=""/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734425" y="2376488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2497B"/>
            </a:solidFill>
            <a:tailEnd type="triangle" w="sm" len="sm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2B3CA2-1288-4913-B9EF-3836DD043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29125"/>
            <a:ext cx="10991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6D0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BB0E1F-1C09-486A-B0FA-D395A8A76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38675"/>
            <a:ext cx="109918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迭代或终止条件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90225A-2C52-4BCB-985A-BE0A1E596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734050"/>
            <a:ext cx="111061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C5EA53-7C57-4F99-B23D-AF8FB740C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48350"/>
            <a:ext cx="107823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方法输出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9D8B97-37B5-4CE8-BA12-24E6696F9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42937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05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rPr>
              <a:t>来源标识与页码</a:t>
            </a:r>
          </a:p>
        </p:txBody>
      </p:sp>
    </p:spTree>
    <p:extLst>
      <p:ext uri="{BB962C8B-B14F-4D97-AF65-F5344CB8AC3E}">
        <p14:creationId xmlns:p14="http://schemas.microsoft.com/office/powerpoint/2010/main" val="173007625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F56EAA-FCF1-4680-A200-FE571429B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95275"/>
            <a:ext cx="228600" cy="209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5F9944-28CD-4079-8259-60CF93C1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"/>
            <a:ext cx="10715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4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结论与讨论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A1E82A-DF99-4E2F-93E9-43367FA6C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4AFCB8-850D-4CEA-A1DF-B7127C69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82425" y="6438900"/>
            <a:ext cx="4095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684C45-6D74-4754-828C-8ED4DA6C2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6505575"/>
            <a:ext cx="333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350" b="0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6BE608-E2DF-42F3-B398-6B4C1581E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953750" cy="369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1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主要发现与证据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EA1B44-C3D3-48E8-A4D8-070D0B64A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1695"/>
            <a:ext cx="10953750" cy="369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1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方法局限与适用范围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0F97F9-1503-4A01-84A3-405F66B5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87040"/>
            <a:ext cx="10953750" cy="369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1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需要进一步验证的问题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8FBA28-19B5-45D2-BB5B-638452DB0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734050"/>
            <a:ext cx="111061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841CA3-5E3A-453E-B6F4-50F9B95EF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48350"/>
            <a:ext cx="107823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本页要点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BE76EB-DEE8-475B-BAC4-9F9F74879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42937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05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rPr>
              <a:t>来源标识与页码</a:t>
            </a:r>
          </a:p>
        </p:txBody>
      </p:sp>
    </p:spTree>
    <p:extLst>
      <p:ext uri="{BB962C8B-B14F-4D97-AF65-F5344CB8AC3E}">
        <p14:creationId xmlns:p14="http://schemas.microsoft.com/office/powerpoint/2010/main" val="10515151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9BA317-C062-4D17-94E5-8BF0DD97C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9" y="161266"/>
            <a:ext cx="11870042" cy="65354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2497B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7A3F5D-9516-4EB2-9450-419517632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2835" y="161266"/>
            <a:ext cx="2606331" cy="152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667422-3020-4665-80D8-101AEC01E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8346" y="337552"/>
            <a:ext cx="1595309" cy="923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4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54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目录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88ECF0-0FA3-43F2-A0BB-7CA38B7AC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1430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1">
                <a:solidFill>
                  <a:srgbClr val="D6DBE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00" b="1">
                <a:solidFill>
                  <a:srgbClr val="D6DBE5"/>
                </a:solidFill>
                <a:latin typeface="Source Han Sans CN"/>
                <a:ea typeface="Source Han Sans CN"/>
                <a:cs typeface="Source Han Sans CN"/>
              </a:rPr>
              <a:t>contents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23CC3F-4016-41B3-A147-1A6BFDFE9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37" y="2164867"/>
            <a:ext cx="668497" cy="63671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616E04-CD8E-4F8A-88C1-BCB5E3142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49863"/>
            <a:ext cx="5810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2702CC-F0C8-4A31-81F4-74CA1130F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727" y="2283170"/>
            <a:ext cx="8620125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1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00" b="1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rPr>
              <a:t>第一篇论文的研究主题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1E003F-E065-434E-B6A8-59CAF9B00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283170"/>
            <a:ext cx="800100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20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F63A29-1CDD-4E57-9A01-330C14211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37" y="3122516"/>
            <a:ext cx="668497" cy="63671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732FAF-0546-4052-88AD-65E4AB3A0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7512"/>
            <a:ext cx="5810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39C8DA-707E-467C-9157-ACB11F1A3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727" y="3240819"/>
            <a:ext cx="8620125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1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00" b="1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rPr>
              <a:t>第二篇论文的研究主题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963C49-5FBA-44C9-AE80-9B995FFA6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240819"/>
            <a:ext cx="800100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20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53E034-03F4-4311-B1DD-C21E4CE6F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37" y="4080165"/>
            <a:ext cx="668497" cy="63671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99C3C3-C636-43BD-A33B-7CDEED166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65161"/>
            <a:ext cx="5810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98376D-6967-4EFF-A1F5-5B33A88AB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727" y="4198468"/>
            <a:ext cx="8620125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1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00" b="1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rPr>
              <a:t>综合比较与讨论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22FC35-A1BC-45EE-9DC5-7208EBFD8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198468"/>
            <a:ext cx="800100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20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4289999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26B51A-854E-48F7-802E-E1422494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95275"/>
            <a:ext cx="228600" cy="209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67A58D-1379-46A1-B1B7-392C0615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"/>
            <a:ext cx="10715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4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1.1 文献基本信息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F2282A-7E27-40B4-84B8-5C190F466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6DD9F8-2717-4748-9953-43B6556E8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82425" y="6438900"/>
            <a:ext cx="4095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CBC30C-C570-4D15-8F4F-6CC64FFC5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6505575"/>
            <a:ext cx="333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350" b="0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F1AA3E-169B-48F9-8A36-1D924045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953750" cy="414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250" b="1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论文完整题名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2BB944-82E2-401B-8D27-9DD716421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0663"/>
            <a:ext cx="10953750" cy="327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rPr>
              <a:t>必要时可另列中文译名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18F2A6-D156-474E-8054-9F05E3E8F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0248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6D0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F98FDB-C1F3-446B-9630-388015326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8848"/>
            <a:ext cx="5114925" cy="3181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作者：真实作者信息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424652-5956-4AA1-84D9-AF0E906F7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9858"/>
            <a:ext cx="5114925" cy="3181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来源：发表载体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FBFE79-8D67-4E0E-BEBA-14437E0A7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30868"/>
            <a:ext cx="5114925" cy="3181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发表：发表年份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E620F2-B959-42F1-BD4F-39F685B88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208848"/>
            <a:ext cx="5267325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主要研究内容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FCD2B8-097A-46A3-8EB2-ABDCCCA63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608898"/>
            <a:ext cx="5267325" cy="1022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95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简要交代文献研究对象、核心问题与主要研究内容。正式汇报中据用户论文填写，不将本页标签作为事实。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2FFFE6-516F-40D8-A8C5-4AB411D05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869055"/>
            <a:ext cx="5267325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关键词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F88EC5-92BB-4D86-8896-C2AE4CF27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269105"/>
            <a:ext cx="5267325" cy="327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据原文提炼的关键词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47F1A2-17FA-41C6-8CCE-8715A96C3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42937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05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rPr>
              <a:t>论文出处与原文定位</a:t>
            </a:r>
          </a:p>
        </p:txBody>
      </p:sp>
    </p:spTree>
    <p:extLst>
      <p:ext uri="{BB962C8B-B14F-4D97-AF65-F5344CB8AC3E}">
        <p14:creationId xmlns:p14="http://schemas.microsoft.com/office/powerpoint/2010/main" val="83489374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E28580-55F0-4E86-8D32-0539EA6C7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9" y="161266"/>
            <a:ext cx="11870042" cy="65354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2497B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0177CE-6D62-4588-A18A-908A62A54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2835" y="161266"/>
            <a:ext cx="2606331" cy="152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0EC8CF-6AA3-4976-A070-15ACA464C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37552"/>
            <a:ext cx="1524000" cy="923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4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54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CB1191-62DB-4540-8E96-9E71C1564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133475"/>
            <a:ext cx="2000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1">
                <a:solidFill>
                  <a:srgbClr val="D6DBE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00" b="1">
                <a:solidFill>
                  <a:srgbClr val="D6DBE5"/>
                </a:solidFill>
                <a:latin typeface="Source Han Sans CN"/>
                <a:ea typeface="Source Han Sans CN"/>
                <a:cs typeface="Source Han Sans CN"/>
              </a:rPr>
              <a:t>PART ONE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51A99C-C8EF-41B9-ACE2-85560882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37" y="2164867"/>
            <a:ext cx="668497" cy="63671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21E0C5-9B37-40F0-9D95-87C7F4488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49863"/>
            <a:ext cx="5810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2E56B1-AF3D-4FD3-B93D-F89992305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727" y="2283170"/>
            <a:ext cx="9906000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1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00" b="1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rPr>
              <a:t>第一篇论文的短题名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3B1680-9DA3-4E0D-B369-164AF2046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37" y="3122516"/>
            <a:ext cx="668497" cy="63671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C4D0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EB610A-268D-44A7-9344-E0D7621E8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7512"/>
            <a:ext cx="5810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853883-959D-4D49-B9C6-9B1C89103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727" y="3240820"/>
            <a:ext cx="9906000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1">
                <a:solidFill>
                  <a:srgbClr val="B9BCC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00" b="1">
                <a:solidFill>
                  <a:srgbClr val="B9BCC3"/>
                </a:solidFill>
                <a:latin typeface="Source Han Sans CN"/>
                <a:ea typeface="Source Han Sans CN"/>
                <a:cs typeface="Source Han Sans CN"/>
              </a:rPr>
              <a:t>第二篇论文的短题名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0D0DC6-3AE4-44C2-B896-5CC325785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37" y="4080165"/>
            <a:ext cx="668497" cy="63671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C4D0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5F035D-3108-4025-9D80-1686C4C84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65161"/>
            <a:ext cx="5810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453731-7537-414D-89B1-79422F46E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727" y="4198469"/>
            <a:ext cx="9906000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1">
                <a:solidFill>
                  <a:srgbClr val="B9BCC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00" b="1">
                <a:solidFill>
                  <a:srgbClr val="B9BCC3"/>
                </a:solidFill>
                <a:latin typeface="Source Han Sans CN"/>
                <a:ea typeface="Source Han Sans CN"/>
                <a:cs typeface="Source Han Sans CN"/>
              </a:rPr>
              <a:t>文献阅读总结与思考</a:t>
            </a:r>
          </a:p>
        </p:txBody>
      </p:sp>
    </p:spTree>
    <p:extLst>
      <p:ext uri="{BB962C8B-B14F-4D97-AF65-F5344CB8AC3E}">
        <p14:creationId xmlns:p14="http://schemas.microsoft.com/office/powerpoint/2010/main" val="160323211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18C648-380A-456B-9402-232EAD8B1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3742"/>
            <a:ext cx="12192000" cy="24934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8C63F1-24B9-4A9B-AA86-22BF25CC3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377" y="262633"/>
            <a:ext cx="596598" cy="6092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2AB6ED-1625-4DE1-8BC0-DC13A1648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377" y="363645"/>
            <a:ext cx="432806" cy="6092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7C477C-5E89-4E9E-8F91-06B6130C1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377" y="464668"/>
            <a:ext cx="291503" cy="6092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6F2A7C-AFFC-4013-9E9B-060D2306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9025" y="6537646"/>
            <a:ext cx="596598" cy="6092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CF526B-563D-4926-9E8D-257D16049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2817" y="6436624"/>
            <a:ext cx="432806" cy="6092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B56FAF-9252-4DFD-8B11-485D272FB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4111" y="6335611"/>
            <a:ext cx="291503" cy="6092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F6DB32-FB21-441B-AC01-BAC35CF8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426" y="2875738"/>
            <a:ext cx="9623148" cy="7694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4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44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汇报完毕，敬请老师同学批评指正！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4072d19595413b">
            <a:extLst>
              <a:ext uri="{96DAC541-7B7A-43D3-8B79-37D633B846F1}">
                <asvg:svgBlip xmlns:asvg="http://schemas.microsoft.com/office/drawing/2016/SVG/main" r:embed="R05bfff9ca2d94e4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646836" y="5214471"/>
            <a:ext cx="261537" cy="229276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066154-D158-4B97-B1A7-C0ECD0566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181600"/>
            <a:ext cx="3381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00" b="0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rPr>
              <a:t>汇报人：汇报人姓名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e0a8f4b18e40aa">
            <a:extLst>
              <a:ext uri="{96DAC541-7B7A-43D3-8B79-37D633B846F1}">
                <asvg:svgBlip xmlns:asvg="http://schemas.microsoft.com/office/drawing/2016/SVG/main" r:embed="R2d24a3aee0ad44b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44069" y="5210251"/>
            <a:ext cx="246917" cy="254879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936FED-8C68-4D9F-B700-3ECE233F6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18160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00" b="0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rPr>
              <a:t>汇报日期：2026.09.07</a:t>
            </a:r>
          </a:p>
        </p:txBody>
      </p:sp>
    </p:spTree>
    <p:extLst>
      <p:ext uri="{BB962C8B-B14F-4D97-AF65-F5344CB8AC3E}">
        <p14:creationId xmlns:p14="http://schemas.microsoft.com/office/powerpoint/2010/main" val="2457965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2026-09-06T17:07:57.8130000Z</dcterms:created>
  <dcterms:modified xsi:type="dcterms:W3CDTF">2026-09-06T17:07:57.8130000Z</dcterms:modified>
</coreProperties>
</file>