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12eaf9889c4c63" /><Relationship Type="http://schemas.openxmlformats.org/officeDocument/2006/relationships/extended-properties" Target="/docProps/app.xml" Id="R56ec3a1fa5054458" /><Relationship Type="http://schemas.openxmlformats.org/officeDocument/2006/relationships/officeDocument" Target="/ppt/presentation.xml" Id="R72800370e9b94d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7e180bdaa84ecd"/>
  </p:sldMasterIdLst>
  <p:notesMasterIdLst>
    <p:notesMasterId xmlns:r="http://schemas.openxmlformats.org/officeDocument/2006/relationships" r:id="Rbff4535b567040b6"/>
  </p:notesMasterIdLst>
  <p:sldIdLst>
    <p:sldId xmlns:r="http://schemas.openxmlformats.org/officeDocument/2006/relationships" id="256" r:id="R66f76b3b981941ad"/>
    <p:sldId xmlns:r="http://schemas.openxmlformats.org/officeDocument/2006/relationships" id="257" r:id="R0154c92990ee414b"/>
    <p:sldId xmlns:r="http://schemas.openxmlformats.org/officeDocument/2006/relationships" id="258" r:id="Racfacc888410412f"/>
    <p:sldId xmlns:r="http://schemas.openxmlformats.org/officeDocument/2006/relationships" id="259" r:id="Re3a6f6ce89584c5f"/>
    <p:sldId xmlns:r="http://schemas.openxmlformats.org/officeDocument/2006/relationships" id="260" r:id="R2dfc3375341b4975"/>
    <p:sldId xmlns:r="http://schemas.openxmlformats.org/officeDocument/2006/relationships" id="261" r:id="Rb8a80f5147354ab2"/>
    <p:sldId xmlns:r="http://schemas.openxmlformats.org/officeDocument/2006/relationships" id="262" r:id="R49a9e4dfe454434d"/>
    <p:sldId xmlns:r="http://schemas.openxmlformats.org/officeDocument/2006/relationships" id="263" r:id="R161d215a7ec44ed8"/>
    <p:sldId xmlns:r="http://schemas.openxmlformats.org/officeDocument/2006/relationships" id="264" r:id="Rb6c161b49f604dec"/>
    <p:sldId xmlns:r="http://schemas.openxmlformats.org/officeDocument/2006/relationships" id="265" r:id="R0752380716f24582"/>
    <p:sldId xmlns:r="http://schemas.openxmlformats.org/officeDocument/2006/relationships" id="266" r:id="R96f5f5395e744eb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ca34aacd9946f8" /><Relationship Type="http://schemas.openxmlformats.org/officeDocument/2006/relationships/slideMaster" Target="/ppt/slideMasters/slideMaster1.xml" Id="R677e180bdaa84ecd" /><Relationship Type="http://schemas.openxmlformats.org/officeDocument/2006/relationships/notesMaster" Target="/ppt/notesMasters/notesMaster1.xml" Id="Rbff4535b567040b6" /><Relationship Type="http://schemas.openxmlformats.org/officeDocument/2006/relationships/presProps" Target="/ppt/presProps.xml" Id="R5fa0b170c0df410a" /><Relationship Type="http://schemas.openxmlformats.org/officeDocument/2006/relationships/tableStyles" Target="/ppt/tableStyles.xml" Id="R14a7ea8eaa284cf9" /><Relationship Type="http://schemas.openxmlformats.org/officeDocument/2006/relationships/slide" Target="/ppt/slides/slide1.xml" Id="R66f76b3b981941ad" /><Relationship Type="http://schemas.openxmlformats.org/officeDocument/2006/relationships/slide" Target="/ppt/slides/slide2.xml" Id="R0154c92990ee414b" /><Relationship Type="http://schemas.openxmlformats.org/officeDocument/2006/relationships/slide" Target="/ppt/slides/slide3.xml" Id="Racfacc888410412f" /><Relationship Type="http://schemas.openxmlformats.org/officeDocument/2006/relationships/slide" Target="/ppt/slides/slide4.xml" Id="Re3a6f6ce89584c5f" /><Relationship Type="http://schemas.openxmlformats.org/officeDocument/2006/relationships/slide" Target="/ppt/slides/slide5.xml" Id="R2dfc3375341b4975" /><Relationship Type="http://schemas.openxmlformats.org/officeDocument/2006/relationships/slide" Target="/ppt/slides/slide6.xml" Id="Rb8a80f5147354ab2" /><Relationship Type="http://schemas.openxmlformats.org/officeDocument/2006/relationships/slide" Target="/ppt/slides/slide7.xml" Id="R49a9e4dfe454434d" /><Relationship Type="http://schemas.openxmlformats.org/officeDocument/2006/relationships/slide" Target="/ppt/slides/slide8.xml" Id="R161d215a7ec44ed8" /><Relationship Type="http://schemas.openxmlformats.org/officeDocument/2006/relationships/slide" Target="/ppt/slides/slide9.xml" Id="Rb6c161b49f604dec" /><Relationship Type="http://schemas.openxmlformats.org/officeDocument/2006/relationships/slide" Target="/ppt/slides/slide10.xml" Id="R0752380716f24582" /><Relationship Type="http://schemas.openxmlformats.org/officeDocument/2006/relationships/slide" Target="/ppt/slides/slide11.xml" Id="R96f5f5395e744e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63ca8ecb8a4df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61f9d938084da1" /><Relationship Type="http://schemas.openxmlformats.org/officeDocument/2006/relationships/notesMaster" Target="/ppt/notesMasters/notesMaster1.xml" Id="R68922679acc840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8d3f7bbe254ad3" /><Relationship Type="http://schemas.openxmlformats.org/officeDocument/2006/relationships/notesMaster" Target="/ppt/notesMasters/notesMaster1.xml" Id="R9ad5d14440c940a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46918ad4e84651" /><Relationship Type="http://schemas.openxmlformats.org/officeDocument/2006/relationships/notesMaster" Target="/ppt/notesMasters/notesMaster1.xml" Id="R153280327ac946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61dad093d3c4ceb" /><Relationship Type="http://schemas.openxmlformats.org/officeDocument/2006/relationships/notesMaster" Target="/ppt/notesMasters/notesMaster1.xml" Id="R7391c5a298c64b0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5734e5546c54cc9" /><Relationship Type="http://schemas.openxmlformats.org/officeDocument/2006/relationships/notesMaster" Target="/ppt/notesMasters/notesMaster1.xml" Id="Rf2c9648c223d476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a06f6ddcaf4258" /><Relationship Type="http://schemas.openxmlformats.org/officeDocument/2006/relationships/notesMaster" Target="/ppt/notesMasters/notesMaster1.xml" Id="R98c77ed96ccd41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4b32b49822446d2" /><Relationship Type="http://schemas.openxmlformats.org/officeDocument/2006/relationships/notesMaster" Target="/ppt/notesMasters/notesMaster1.xml" Id="R5b2750496a364e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4e64e083d974842" /><Relationship Type="http://schemas.openxmlformats.org/officeDocument/2006/relationships/notesMaster" Target="/ppt/notesMasters/notesMaster1.xml" Id="R83bb10994a6c4fb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ae9fc3d427345ec" /><Relationship Type="http://schemas.openxmlformats.org/officeDocument/2006/relationships/notesMaster" Target="/ppt/notesMasters/notesMaster1.xml" Id="Rc9a33735b6064b3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19143f96d114e9c" /><Relationship Type="http://schemas.openxmlformats.org/officeDocument/2006/relationships/notesMaster" Target="/ppt/notesMasters/notesMaster1.xml" Id="R0e2a738e66d5429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ddb2768a04d4152" /><Relationship Type="http://schemas.openxmlformats.org/officeDocument/2006/relationships/notesMaster" Target="/ppt/notesMasters/notesMaster1.xml" Id="R4cd8825cf7ea47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K105干净版式示意，仅含编辑标签，无示例论文或演示数据。普通任务通过同源组件创建已填充页面，不将这些标签带入成品。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c3595ce3fe428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29934392aa414e" /><Relationship Type="http://schemas.openxmlformats.org/officeDocument/2006/relationships/slideLayout" Target="/ppt/slideLayouts/slideLayout1.xml" Id="R683ef74864ec4d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3ef74864ec4d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61d6cb7360495b" /><Relationship Type="http://schemas.openxmlformats.org/officeDocument/2006/relationships/image" Target="/ppt/media/image.png" Id="Rfdc9aae806bd4fe3" /><Relationship Type="http://schemas.openxmlformats.org/officeDocument/2006/relationships/image" Target="/ppt/media/image.svg" Id="Rddad0cdc9b094aec" /><Relationship Type="http://schemas.openxmlformats.org/officeDocument/2006/relationships/image" Target="/ppt/media/image2.png" Id="R5ca6705bbcc54b2b" /><Relationship Type="http://schemas.openxmlformats.org/officeDocument/2006/relationships/image" Target="/ppt/media/image2.svg" Id="R4dacd9282b4740ea" /><Relationship Type="http://schemas.openxmlformats.org/officeDocument/2006/relationships/notesSlide" Target="/ppt/notesSlides/notesSlide1.xml" Id="R74ea03bbb2cb4f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a8d4c00fb4e04" /><Relationship Type="http://schemas.openxmlformats.org/officeDocument/2006/relationships/notesSlide" Target="/ppt/notesSlides/notesSlide2.xml" Id="R0f7e23f9613545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2b62509ce9425a" /><Relationship Type="http://schemas.openxmlformats.org/officeDocument/2006/relationships/notesSlide" Target="/ppt/notesSlides/notesSlide3.xml" Id="Rcd875be6b1b442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a4a1c918eb4afc" /><Relationship Type="http://schemas.openxmlformats.org/officeDocument/2006/relationships/notesSlide" Target="/ppt/notesSlides/notesSlide4.xml" Id="R38632747cf4446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5dacc1cb8241ca" /><Relationship Type="http://schemas.openxmlformats.org/officeDocument/2006/relationships/notesSlide" Target="/ppt/notesSlides/notesSlide5.xml" Id="Rfa5f031e838940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d4918261c4668" /><Relationship Type="http://schemas.openxmlformats.org/officeDocument/2006/relationships/notesSlide" Target="/ppt/notesSlides/notesSlide6.xml" Id="Rc378cdf5b34543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242b06ace44778" /><Relationship Type="http://schemas.openxmlformats.org/officeDocument/2006/relationships/notesSlide" Target="/ppt/notesSlides/notesSlide7.xml" Id="R8cd63281595646e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63ab744c8d4966" /><Relationship Type="http://schemas.openxmlformats.org/officeDocument/2006/relationships/notesSlide" Target="/ppt/notesSlides/notesSlide8.xml" Id="Rc6b1e39d59714d8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5a78e7d20841cf" /><Relationship Type="http://schemas.openxmlformats.org/officeDocument/2006/relationships/notesSlide" Target="/ppt/notesSlides/notesSlide9.xml" Id="Rbcf8d1af17844d7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391261c604764" /><Relationship Type="http://schemas.openxmlformats.org/officeDocument/2006/relationships/notesSlide" Target="/ppt/notesSlides/notesSlide10.xml" Id="R63d4877840954ad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42d34c7f054dc5" /><Relationship Type="http://schemas.openxmlformats.org/officeDocument/2006/relationships/image" Target="/ppt/media/image3.png" Id="R9ee00347852749d1" /><Relationship Type="http://schemas.openxmlformats.org/officeDocument/2006/relationships/image" Target="/ppt/media/image3.svg" Id="R29d12d91d3c64edc" /><Relationship Type="http://schemas.openxmlformats.org/officeDocument/2006/relationships/image" Target="/ppt/media/image4.png" Id="R5c2601538f4942be" /><Relationship Type="http://schemas.openxmlformats.org/officeDocument/2006/relationships/image" Target="/ppt/media/image4.svg" Id="R9474024c5fa046e8" /><Relationship Type="http://schemas.openxmlformats.org/officeDocument/2006/relationships/notesSlide" Target="/ppt/notesSlides/notesSlide11.xml" Id="Rd748aaf55615452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ADCACB-C64F-4A5D-B97B-1E8E28F7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3742"/>
            <a:ext cx="12192000" cy="24934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F0AFBC-C22C-40DD-8197-4909458A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77" y="262633"/>
            <a:ext cx="596598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CE0632-A06C-4EFA-8B86-F7A9C739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77" y="363645"/>
            <a:ext cx="432806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F77DE7-F195-4D09-84F3-55EFEFBC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77" y="464668"/>
            <a:ext cx="291503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9819BF-9EFF-46DD-BB53-A0CD2646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9025" y="6537646"/>
            <a:ext cx="596598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2F2D24-E6E1-44A7-A1FC-08206FCD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2817" y="6436624"/>
            <a:ext cx="432806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0FFB70-E648-490F-BF18-76DF1698A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4111" y="6335611"/>
            <a:ext cx="291503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B61820-1126-4C07-973F-AE769395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57475"/>
            <a:ext cx="87630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6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66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组会汇报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c9aae806bd4fe3">
            <a:extLst>
              <a:ext uri="{96DAC541-7B7A-43D3-8B79-37D633B846F1}">
                <asvg:svgBlip xmlns:asvg="http://schemas.microsoft.com/office/drawing/2016/SVG/main" r:embed="Rddad0cdc9b094ae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646836" y="5214471"/>
            <a:ext cx="261537" cy="229276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FF6878-A9A4-4A03-9E1D-4C10FC31C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81600"/>
            <a:ext cx="3381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0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rPr>
              <a:t>汇报人：汇报人姓名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a6705bbcc54b2b">
            <a:extLst>
              <a:ext uri="{96DAC541-7B7A-43D3-8B79-37D633B846F1}">
                <asvg:svgBlip xmlns:asvg="http://schemas.microsoft.com/office/drawing/2016/SVG/main" r:embed="R4dacd9282b4740e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44069" y="5210251"/>
            <a:ext cx="246917" cy="254879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3BA6D-FE4C-4CB2-820F-B99C0571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1816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0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rPr>
              <a:t>汇报日期：2026.09.07</a:t>
            </a:r>
          </a:p>
        </p:txBody>
      </p:sp>
    </p:spTree>
    <p:extLst>
      <p:ext uri="{BB962C8B-B14F-4D97-AF65-F5344CB8AC3E}">
        <p14:creationId xmlns:p14="http://schemas.microsoft.com/office/powerpoint/2010/main" val="15468653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7EF225-F3C0-4F07-A74D-586E165B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95275"/>
            <a:ext cx="22860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FAA2EF-643A-4FF4-82DA-3C715E1F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"/>
            <a:ext cx="10715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研究问题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BABE0F-B79C-4F02-AA6D-0104CADAD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B45270-405D-4BE5-B540-E0586011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6438900"/>
            <a:ext cx="409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8D2999-EFD5-429D-8EA3-CC8F42A5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505575"/>
            <a:ext cx="333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020110-ECCD-4E51-87AC-A141AAB3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6825"/>
            <a:ext cx="10953750" cy="3567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研究背景与待解决的问题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71558C-3A3A-48AE-A292-0A5073247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4061"/>
            <a:ext cx="10953750" cy="3567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方法选择与比较条件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F6658B-54B2-4C77-A4DB-98A0B4B4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1298"/>
            <a:ext cx="10953750" cy="3567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需要核验的关键证据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E8D104-ABE9-4FF4-B2A7-8C789E96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734050"/>
            <a:ext cx="11106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97D2FF-5758-4608-A8DC-6D5E3A8C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10782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本页要点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15479E-A96E-4B9D-88F8-B4310F32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4293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来源标识与页码</a:t>
            </a:r>
          </a:p>
        </p:txBody>
      </p:sp>
    </p:spTree>
    <p:extLst>
      <p:ext uri="{BB962C8B-B14F-4D97-AF65-F5344CB8AC3E}">
        <p14:creationId xmlns:p14="http://schemas.microsoft.com/office/powerpoint/2010/main" val="18886242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FC9BE1-FCE7-490A-A7FA-7C48BE85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95275"/>
            <a:ext cx="22860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F4E84F-2802-4949-8D05-07548DCA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"/>
            <a:ext cx="10715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单图与解释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EEADC2-4813-4468-86CD-18AA9E2AC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86458A-A60C-489F-B928-6C4F81D3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6438900"/>
            <a:ext cx="409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D0B65E-B09F-45D5-B040-30A3E3FE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505575"/>
            <a:ext cx="333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E0719B-8133-44F2-B852-F928C1C8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523875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9B6D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30DF6C-6DE5-4A97-B347-BC76129F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43238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原文图表区域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FD10DA-73F8-46F7-A38F-A8F75D93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514475"/>
            <a:ext cx="5095875" cy="343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95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实验条件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96583A-A6FD-469B-B60E-8A3E7D9F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229803"/>
            <a:ext cx="5095875" cy="343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95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图表支持的结论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A2D5A9-3027-4670-BB90-79698F9EC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945130"/>
            <a:ext cx="5095875" cy="343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95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结论适用范围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43914-BF3C-4F9B-B5B8-D09D6AA7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734050"/>
            <a:ext cx="11106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936366-A58C-4855-853A-20E84C06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10782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本页要点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D85E1F-3D4B-45EA-9D69-8DB0829B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4293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来源标识与页码</a:t>
            </a:r>
          </a:p>
        </p:txBody>
      </p:sp>
    </p:spTree>
    <p:extLst>
      <p:ext uri="{BB962C8B-B14F-4D97-AF65-F5344CB8AC3E}">
        <p14:creationId xmlns:p14="http://schemas.microsoft.com/office/powerpoint/2010/main" val="1776932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7898E2-47CD-4CA4-90B7-637F1ED1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95275"/>
            <a:ext cx="22860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099AD1-F6C8-4287-B36F-1EC302911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"/>
            <a:ext cx="10715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并列图表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8A9C81-D4E9-402C-A16F-7930D703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0D7504-4B55-43C9-B9E1-A4CC89DA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6438900"/>
            <a:ext cx="409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EA545B-1936-44EE-89F3-E1AB2C59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505575"/>
            <a:ext cx="333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1FBD5-A169-4F35-A0A9-8333DC36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523875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9B6D0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D8DD0B-67F4-4AD5-BE54-A67B8BB5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43238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原文图表区域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B4DD37-A073-41F7-A629-F7223B7F4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476375"/>
            <a:ext cx="523875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9B6D0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6DB2F7-DB69-4D26-8E48-6ABF4BA5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43238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原文图表区域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A07254-A4B8-4D16-B570-74399EF11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81600"/>
            <a:ext cx="51435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图表说明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A366FF-7F45-4874-B4E3-30402E1F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181600"/>
            <a:ext cx="51435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图表说明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A404AF-F199-4B3E-A801-3F489C85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734050"/>
            <a:ext cx="11106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6BE2FD-D409-4D30-AB23-0285A187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10782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本页要点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09471C-E704-4CC7-9346-25BA3B81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4293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来源标识与页码</a:t>
            </a:r>
          </a:p>
        </p:txBody>
      </p:sp>
    </p:spTree>
    <p:extLst>
      <p:ext uri="{BB962C8B-B14F-4D97-AF65-F5344CB8AC3E}">
        <p14:creationId xmlns:p14="http://schemas.microsoft.com/office/powerpoint/2010/main" val="2770508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79D7B7-F9D6-491E-B6C0-72920014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95275"/>
            <a:ext cx="22860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0A89A9-1527-438D-855B-FF7319C6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"/>
            <a:ext cx="10715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实验条件对比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1C53F3-1431-4CE0-9DE0-40306D088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04F532-FA4E-4B9A-B466-4F786287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6438900"/>
            <a:ext cx="409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6AAB8B-2F44-447D-9E91-79A937F9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505575"/>
            <a:ext cx="333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5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90550" y="1343025"/>
          <a:ext xmlns:a="http://schemas.openxmlformats.org/drawingml/2006/main" cx="10991850" cy="3790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19350"/>
                <a:gridCol w="4286250"/>
                <a:gridCol w="4286250"/>
              </a:tblGrid>
              <a:tr h="9477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比较维度</a:t>
                      </a:r>
                    </a:p>
                  </a:txBody>
                  <a:tcPr marL="114300" marR="114300" marT="95250" marB="76200" anchor="ctr">
                    <a:solidFill>
                      <a:srgbClr val="3249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条件一</a:t>
                      </a:r>
                    </a:p>
                  </a:txBody>
                  <a:tcPr marL="114300" marR="114300" marT="95250" marB="76200" anchor="ctr">
                    <a:solidFill>
                      <a:srgbClr val="3249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条件二</a:t>
                      </a:r>
                    </a:p>
                  </a:txBody>
                  <a:tcPr marL="114300" marR="114300" marT="95250" marB="76200" anchor="ctr">
                    <a:solidFill>
                      <a:srgbClr val="32497B"/>
                    </a:solidFill>
                  </a:tcPr>
                </a:tc>
              </a:tr>
              <a:tr h="9477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实验设置</a:t>
                      </a:r>
                    </a:p>
                  </a:txBody>
                  <a:tcPr marL="114300" marR="11430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据原文填写</a:t>
                      </a:r>
                    </a:p>
                  </a:txBody>
                  <a:tcPr marL="114300" marR="11430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据原文填写</a:t>
                      </a:r>
                    </a:p>
                  </a:txBody>
                  <a:tcPr marL="114300" marR="114300" marT="95250" marB="76200" anchor="ctr">
                    <a:solidFill>
                      <a:srgbClr val="FFFFFF"/>
                    </a:solidFill>
                  </a:tcPr>
                </a:tc>
              </a:tr>
              <a:tr h="9477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主要结果</a:t>
                      </a:r>
                    </a:p>
                  </a:txBody>
                  <a:tcPr marL="114300" marR="114300" marT="95250" marB="76200" anchor="ctr"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据原文填写</a:t>
                      </a:r>
                    </a:p>
                  </a:txBody>
                  <a:tcPr marL="114300" marR="114300" marT="95250" marB="76200" anchor="ctr"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据原文填写</a:t>
                      </a:r>
                    </a:p>
                  </a:txBody>
                  <a:tcPr marL="114300" marR="114300" marT="95250" marB="76200" anchor="ctr">
                    <a:solidFill>
                      <a:srgbClr val="E9EDF5"/>
                    </a:solidFill>
                  </a:tcPr>
                </a:tc>
              </a:tr>
              <a:tr h="9477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适用边界</a:t>
                      </a:r>
                    </a:p>
                  </a:txBody>
                  <a:tcPr marL="114300" marR="11430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据原文填写</a:t>
                      </a:r>
                    </a:p>
                  </a:txBody>
                  <a:tcPr marL="114300" marR="11430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52B35"/>
                          </a:solidFill>
                          <a:latin typeface="Source Han Sans CN"/>
                          <a:ea typeface="Source Han Sans CN"/>
                          <a:cs typeface="Source Han Sans CN"/>
                        </a:rPr>
                        <a:t>据原文填写</a:t>
                      </a:r>
                    </a:p>
                  </a:txBody>
                  <a:tcPr marL="114300" marR="114300" marT="9525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CA9C4C-D951-42F7-953E-7EFE934B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734050"/>
            <a:ext cx="11106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A5610-12BC-4865-B60E-47A4A8B1F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10782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本页要点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3297D0-93C1-4E2A-B8B8-3052697E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4293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来源标识与页码</a:t>
            </a:r>
          </a:p>
        </p:txBody>
      </p:sp>
    </p:spTree>
    <p:extLst>
      <p:ext uri="{BB962C8B-B14F-4D97-AF65-F5344CB8AC3E}">
        <p14:creationId xmlns:p14="http://schemas.microsoft.com/office/powerpoint/2010/main" val="12760447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1E3778-7369-4CE4-A805-3521D0B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95275"/>
            <a:ext cx="22860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9E95B9-024D-4B0D-BAC9-A66EBF097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"/>
            <a:ext cx="10715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关键方法步骤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435D1F-E34D-4F01-97A4-45A13A17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C8CAD1-75D3-4383-939C-870E7EEE1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6438900"/>
            <a:ext cx="409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6F4BA7-EAED-4A72-AB14-2621A86C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505575"/>
            <a:ext cx="333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6BA6E0-2579-4CC9-8F6D-8CA359FE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57275"/>
            <a:ext cx="109918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7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方法的输入与前提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2393A3-BD66-46F0-BD08-5F6B9CBD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28825"/>
            <a:ext cx="2447925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5"/>
          </a:solidFill>
          <a:ln xmlns:a="http://schemas.openxmlformats.org/drawingml/2006/main" w="9525">
            <a:solidFill>
              <a:srgbClr val="A9B6D0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477291-921D-45CA-8D40-A790B8F4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2257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输入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7F9AE4-B44A-429A-984A-0AEFD051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90850"/>
            <a:ext cx="23145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7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信号与已知参数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127795-165D-4CDE-826B-672B6809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028825"/>
            <a:ext cx="2447925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5"/>
          </a:solidFill>
          <a:ln xmlns:a="http://schemas.openxmlformats.org/drawingml/2006/main" w="9525">
            <a:solidFill>
              <a:srgbClr val="A9B6D0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1AABF1-66A7-4258-BAF6-B93F1500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228850"/>
            <a:ext cx="2257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目标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F40134-33DA-4BFA-A4F3-D85F990B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990850"/>
            <a:ext cx="23145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7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目标函数与约束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536103-B520-462D-9979-3297EA68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28825"/>
            <a:ext cx="2447925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5"/>
          </a:solidFill>
          <a:ln xmlns:a="http://schemas.openxmlformats.org/drawingml/2006/main" w="9525">
            <a:solidFill>
              <a:srgbClr val="A9B6D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E1BF96-2DAF-4A1A-A8C1-F02BF33B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28850"/>
            <a:ext cx="2257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求解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048CD5-DE87-4121-8117-9B5BB136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990850"/>
            <a:ext cx="23145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7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关键更新步骤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26508E-8B41-422E-AF12-9F9EC27E1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028825"/>
            <a:ext cx="2447925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5"/>
          </a:solidFill>
          <a:ln xmlns:a="http://schemas.openxmlformats.org/drawingml/2006/main" w="9525">
            <a:solidFill>
              <a:srgbClr val="A9B6D0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B6DA4D-2623-4F02-9A44-8E7AEB4DB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228850"/>
            <a:ext cx="2257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输出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C2319C-1B90-4229-B87D-B92B26017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90850"/>
            <a:ext cx="23145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725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结果与停止条件</a:t>
            </a:r>
          </a:p>
        </p:txBody>
      </p:sp>
      <p:cxnSp>
        <p:nvCxnSpPr>
          <p:cNvPr id="45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038475" y="2376488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2497B"/>
            </a:solidFill>
            <a:tailEnd type="triangle" w="sm" len="sm"/>
          </a:ln>
        </p:spPr>
      </p:cxnSp>
      <p:cxnSp>
        <p:nvCxnSpPr>
          <p:cNvPr id="46" name=""/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886450" y="2376488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2497B"/>
            </a:solidFill>
            <a:tailEnd type="triangle" w="sm" len="sm"/>
          </a:ln>
        </p:spPr>
      </p:cxnSp>
      <p:cxnSp>
        <p:nvCxnSpPr>
          <p:cNvPr id="47" name=""/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734425" y="2376488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2497B"/>
            </a:solidFill>
            <a:tailEnd type="triangle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F92B52-F097-41E7-8370-FE0314CB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29125"/>
            <a:ext cx="1099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6D0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723859-4B21-440A-9854-261F8AFC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109918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迭代或终止条件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8123A1-701A-48B2-8502-6DCE391D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734050"/>
            <a:ext cx="11106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E93326-29C1-42E3-AF11-C8E2869A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10782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方法输出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4896B1-1AC6-47B1-AC6D-46340872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4293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来源标识与页码</a:t>
            </a:r>
          </a:p>
        </p:txBody>
      </p:sp>
    </p:spTree>
    <p:extLst>
      <p:ext uri="{BB962C8B-B14F-4D97-AF65-F5344CB8AC3E}">
        <p14:creationId xmlns:p14="http://schemas.microsoft.com/office/powerpoint/2010/main" val="17765832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3187BF-FF09-44F0-A8EE-A66166C2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95275"/>
            <a:ext cx="22860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482E36-C4A7-48B8-9FF3-AA412A69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"/>
            <a:ext cx="10715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结论与讨论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20DFB9-DFD9-4AF5-803A-492436BB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93870D-19EA-465E-A0FE-5D0D6B92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6438900"/>
            <a:ext cx="409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F6DD3-A873-4649-B5C6-A09A93E0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505575"/>
            <a:ext cx="333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1ED9D9-2C4F-472D-9BE9-039BDC77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953750" cy="369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1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主要发现与证据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8E9FAB-DFE7-4C4F-85C3-FC674419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1695"/>
            <a:ext cx="10953750" cy="369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1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方法局限与适用范围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7C7478-C287-4601-9847-EEDA9996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7040"/>
            <a:ext cx="10953750" cy="369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1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需要进一步验证的问题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68EAEA-49C6-44A0-AB85-82EBF2195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734050"/>
            <a:ext cx="11106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4677D4-88D7-4A6B-AFBD-29A04095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10782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本页要点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E2C2B9-EA45-43A7-909B-D0763FFF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4293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来源标识与页码</a:t>
            </a:r>
          </a:p>
        </p:txBody>
      </p:sp>
    </p:spTree>
    <p:extLst>
      <p:ext uri="{BB962C8B-B14F-4D97-AF65-F5344CB8AC3E}">
        <p14:creationId xmlns:p14="http://schemas.microsoft.com/office/powerpoint/2010/main" val="4983716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BEFAEA-9AF1-4099-9A1F-68358D4D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9" y="161266"/>
            <a:ext cx="11870042" cy="65354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2497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3169EA-3E27-4B35-AF1A-23BA2F37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2835" y="161266"/>
            <a:ext cx="2606331" cy="152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F2DE6E-32BD-4310-872D-1BCA9A5D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8346" y="337552"/>
            <a:ext cx="1595309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54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目录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DAE35C-5335-40EB-9BDD-CB60A8C45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1430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1">
                <a:solidFill>
                  <a:srgbClr val="D6DBE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D6DBE5"/>
                </a:solidFill>
                <a:latin typeface="Source Han Sans CN"/>
                <a:ea typeface="Source Han Sans CN"/>
                <a:cs typeface="Source Han Sans CN"/>
              </a:rPr>
              <a:t>contents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CC11A4-5012-45C4-8E41-F4AFA694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37" y="2164867"/>
            <a:ext cx="668497" cy="6367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B158C3-91E4-49DD-9AB5-4BF081DC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9863"/>
            <a:ext cx="5810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A7771D-4B08-4595-8FD9-1AB743DA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727" y="2283170"/>
            <a:ext cx="86201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1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rPr>
              <a:t>第一篇论文的研究主题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3B018B-4323-43C3-8103-2CDEB4710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283170"/>
            <a:ext cx="800100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20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26C302-E5C8-45DC-8AA5-B774202D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37" y="3122516"/>
            <a:ext cx="668497" cy="6367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E7E6A8-10F9-4402-A837-9C1C9285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7512"/>
            <a:ext cx="5810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A822AA-EE4C-4B40-8065-48D6A4A5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727" y="3240819"/>
            <a:ext cx="86201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1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rPr>
              <a:t>第二篇论文的研究主题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D77B2A-2B2A-4A92-AFF5-87325044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240819"/>
            <a:ext cx="800100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20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43BF82-9BAD-469F-A89C-9DD782C2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37" y="4080165"/>
            <a:ext cx="668497" cy="6367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2620F2-275A-4E0E-9220-CAFA26CE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65161"/>
            <a:ext cx="5810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67C48D-0DAE-4C16-B2DF-5864E3CD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727" y="4198468"/>
            <a:ext cx="86201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1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rPr>
              <a:t>综合比较与讨论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7756CE-95EE-4948-BD50-D48AE1E54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198468"/>
            <a:ext cx="800100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20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95584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1AC960-EB2C-4647-852D-BA7F471D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95275"/>
            <a:ext cx="22860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372B5C-8A4D-4E33-AE57-94ADB0AE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"/>
            <a:ext cx="10715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4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1.1 文献基本信息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55435A-A7CF-4D22-A3B9-06FBB8B31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73A5C9-40AB-4483-B093-687AF54A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6438900"/>
            <a:ext cx="409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9086AA-16C3-441E-9E00-23EA052F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505575"/>
            <a:ext cx="333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0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0C8990-8093-4FBC-9C78-72F04E88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10953750" cy="414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250" b="1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论文完整题名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317F96-D3CA-4ED2-A762-8D482366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0663"/>
            <a:ext cx="10953750" cy="327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必要时可另列中文译名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7140BD-6313-4A91-86B5-0D94CAE2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0248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6D0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EB9371-743E-4F36-AFAE-2B5B1AB6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8848"/>
            <a:ext cx="5114925" cy="3181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作者：真实作者信息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A6FB9C-1327-43FE-B62D-E74B6E33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9858"/>
            <a:ext cx="5114925" cy="3181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来源：发表载体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0E746B-A285-4ADD-A5AD-3E0150D6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0868"/>
            <a:ext cx="5114925" cy="3181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发表：发表年份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A64F3C-3E29-431E-A1B3-702E4AD1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208848"/>
            <a:ext cx="5267325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主要研究内容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4BFA78-F173-4081-B19A-B138D2AA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608898"/>
            <a:ext cx="5267325" cy="1022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95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简要交代文献研究对象、核心问题与主要研究内容。正式汇报中据用户论文填写，不将本页标签作为事实。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9383F8-B4E0-43E0-A2E3-12D8F25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869055"/>
            <a:ext cx="5267325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1">
                <a:solidFill>
                  <a:srgbClr val="32497B"/>
                </a:solidFill>
                <a:latin typeface="Source Han Sans CN"/>
                <a:ea typeface="Source Han Sans CN"/>
                <a:cs typeface="Source Han Sans CN"/>
              </a:rPr>
              <a:t>关键词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28D91-A674-4760-8F2B-646FA1FE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269105"/>
            <a:ext cx="5267325" cy="327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800" b="0">
                <a:solidFill>
                  <a:srgbClr val="252B35"/>
                </a:solidFill>
                <a:latin typeface="Source Han Sans CN"/>
                <a:ea typeface="Source Han Sans CN"/>
                <a:cs typeface="Source Han Sans CN"/>
              </a:rPr>
              <a:t>据原文提炼的关键词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7A2327-95E1-4CB9-9853-189ED53C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4293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626873"/>
                </a:solidFill>
                <a:latin typeface="Source Han Sans CN"/>
                <a:ea typeface="Source Han Sans CN"/>
                <a:cs typeface="Source Han Sans CN"/>
              </a:rPr>
              <a:t>论文出处与原文定位</a:t>
            </a:r>
          </a:p>
        </p:txBody>
      </p:sp>
    </p:spTree>
    <p:extLst>
      <p:ext uri="{BB962C8B-B14F-4D97-AF65-F5344CB8AC3E}">
        <p14:creationId xmlns:p14="http://schemas.microsoft.com/office/powerpoint/2010/main" val="7517809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17FDE0-DE93-4B38-B1DD-1438F47F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9" y="161266"/>
            <a:ext cx="11870042" cy="65354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2497B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B7CFE1-9420-4AAA-8B6C-314AAEDD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2835" y="161266"/>
            <a:ext cx="2606331" cy="152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41EE28-ED68-4685-A6DA-E2D885C44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37552"/>
            <a:ext cx="1524000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54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34E892-828D-4889-ABA6-0EBBD475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133475"/>
            <a:ext cx="2000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1">
                <a:solidFill>
                  <a:srgbClr val="D6DBE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D6DBE5"/>
                </a:solidFill>
                <a:latin typeface="Source Han Sans CN"/>
                <a:ea typeface="Source Han Sans CN"/>
                <a:cs typeface="Source Han Sans CN"/>
              </a:rPr>
              <a:t>PART ONE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C5C6E0-4AB8-49DA-95A6-6C6BEA24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37" y="2164867"/>
            <a:ext cx="668497" cy="6367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7A5BA-2C74-4489-85C1-CEB8443A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9863"/>
            <a:ext cx="5810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97E78B-831A-4D94-952C-2234D8B3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727" y="2283170"/>
            <a:ext cx="9906000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1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rPr>
              <a:t>第一篇论文的短题名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0F5ADE-C44F-44FE-AC51-499A0BD5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37" y="3122516"/>
            <a:ext cx="668497" cy="6367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C4D0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745556-7260-44FA-9E0F-A0175E39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7512"/>
            <a:ext cx="5810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919A34-9F5E-4BB7-AF68-0FB8AC37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727" y="3240820"/>
            <a:ext cx="9906000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1">
                <a:solidFill>
                  <a:srgbClr val="B9BCC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B9BCC3"/>
                </a:solidFill>
                <a:latin typeface="Source Han Sans CN"/>
                <a:ea typeface="Source Han Sans CN"/>
                <a:cs typeface="Source Han Sans CN"/>
              </a:rPr>
              <a:t>第二篇论文的短题名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857C27-8A6F-4F81-8DB5-F96E6A31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37" y="4080165"/>
            <a:ext cx="668497" cy="63671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C4D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36E57D-F7A2-49E9-8E8C-7EC2AE51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65161"/>
            <a:ext cx="5810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8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D2ED97-7855-4F77-9401-891C93991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727" y="4198469"/>
            <a:ext cx="9906000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1">
                <a:solidFill>
                  <a:srgbClr val="B9BCC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1">
                <a:solidFill>
                  <a:srgbClr val="B9BCC3"/>
                </a:solidFill>
                <a:latin typeface="Source Han Sans CN"/>
                <a:ea typeface="Source Han Sans CN"/>
                <a:cs typeface="Source Han Sans CN"/>
              </a:rPr>
              <a:t>文献阅读总结与思考</a:t>
            </a:r>
          </a:p>
        </p:txBody>
      </p:sp>
    </p:spTree>
    <p:extLst>
      <p:ext uri="{BB962C8B-B14F-4D97-AF65-F5344CB8AC3E}">
        <p14:creationId xmlns:p14="http://schemas.microsoft.com/office/powerpoint/2010/main" val="14489740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4D5E81-C0DE-4027-82D2-EE5450D8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3742"/>
            <a:ext cx="12192000" cy="24934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7CD2A-6A5C-4AF4-86BE-357C3687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77" y="262633"/>
            <a:ext cx="596598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84B090-EC82-4E34-824B-6FF099DA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77" y="363645"/>
            <a:ext cx="432806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530C3E-C18A-4DF2-946C-F6860C9E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77" y="464668"/>
            <a:ext cx="291503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16447C-ADED-4D78-8A10-FE10B9A8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9025" y="6537646"/>
            <a:ext cx="596598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EAFC96-98DB-40B4-8600-84FEBFB4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2817" y="6436624"/>
            <a:ext cx="432806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14FD08-E4FC-4A12-A3C2-171DE145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4111" y="6335611"/>
            <a:ext cx="291503" cy="6092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DF7C22-E335-423D-AA87-22B63BC7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426" y="2875738"/>
            <a:ext cx="9623148" cy="769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4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4400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汇报完毕，敬请老师同学批评指正！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00347852749d1">
            <a:extLst>
              <a:ext uri="{96DAC541-7B7A-43D3-8B79-37D633B846F1}">
                <asvg:svgBlip xmlns:asvg="http://schemas.microsoft.com/office/drawing/2016/SVG/main" r:embed="R29d12d91d3c64ed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646836" y="5214471"/>
            <a:ext cx="261537" cy="229276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5A2715-E84F-42AD-A2BF-68E66FC5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81600"/>
            <a:ext cx="3381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0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rPr>
              <a:t>汇报人：汇报人姓名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2601538f4942be">
            <a:extLst>
              <a:ext uri="{96DAC541-7B7A-43D3-8B79-37D633B846F1}">
                <asvg:svgBlip xmlns:asvg="http://schemas.microsoft.com/office/drawing/2016/SVG/main" r:embed="R9474024c5fa046e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44069" y="5210251"/>
            <a:ext cx="246917" cy="254879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6BD9D8-5C66-4C4D-A998-7701DDCD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1816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000" b="0">
                <a:solidFill>
                  <a:srgbClr val="000000"/>
                </a:solidFill>
                <a:latin typeface="Source Han Sans CN"/>
                <a:ea typeface="Source Han Sans CN"/>
                <a:cs typeface="Source Han Sans CN"/>
              </a:rPr>
              <a:t>汇报日期：2026.09.07</a:t>
            </a:r>
          </a:p>
        </p:txBody>
      </p:sp>
    </p:spTree>
    <p:extLst>
      <p:ext uri="{BB962C8B-B14F-4D97-AF65-F5344CB8AC3E}">
        <p14:creationId xmlns:p14="http://schemas.microsoft.com/office/powerpoint/2010/main" val="1844218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2026-09-06T18:49:32.0610000Z</dcterms:created>
  <dcterms:modified xsi:type="dcterms:W3CDTF">2026-09-06T18:49:32.0610000Z</dcterms:modified>
</coreProperties>
</file>